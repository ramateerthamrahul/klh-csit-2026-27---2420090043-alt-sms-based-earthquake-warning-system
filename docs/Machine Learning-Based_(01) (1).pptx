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3" r:id="rId5"/>
    <p:sldId id="257" r:id="rId6"/>
    <p:sldId id="258" r:id="rId7"/>
    <p:sldId id="259" r:id="rId8"/>
    <p:sldId id="260" r:id="rId9"/>
    <p:sldId id="274" r:id="rId10"/>
    <p:sldId id="261" r:id="rId11"/>
    <p:sldId id="262" r:id="rId12"/>
    <p:sldId id="265" r:id="rId13"/>
    <p:sldId id="269" r:id="rId14"/>
    <p:sldId id="271" r:id="rId15"/>
    <p:sldId id="273" r:id="rId16"/>
    <p:sldId id="266" r:id="rId17"/>
    <p:sldId id="27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.xml"/><Relationship Id="rId7" Type="http://schemas.openxmlformats.org/officeDocument/2006/relationships/hyperlink" Target="https://zenodo.org/records/15550462?utm_source=chatgpt.com" TargetMode="External"/><Relationship Id="rId6" Type="http://schemas.openxmlformats.org/officeDocument/2006/relationships/hyperlink" Target="https://pmc.ncbi.nlm.nih.gov/articles/PMC12130196/?utm_source=chatgpt.com" TargetMode="External"/><Relationship Id="rId5" Type="http://schemas.openxmlformats.org/officeDocument/2006/relationships/hyperlink" Target="https://www.nature.com/articles/s41598-025-00804-x?utm_source=chatgpt.com" TargetMode="External"/><Relationship Id="rId4" Type="http://schemas.openxmlformats.org/officeDocument/2006/relationships/hyperlink" Target="https://www.frontiersin.org/journals/earth-science/articles/10.3389/feart.2023.1082832/full?utm_source=chatgpt.com" TargetMode="External"/><Relationship Id="rId3" Type="http://schemas.openxmlformats.org/officeDocument/2006/relationships/hyperlink" Target="https://link.springer.com/article/10.1007/s10950-026-10371-x?utm_source=chatgpt.com" TargetMode="External"/><Relationship Id="rId2" Type="http://schemas.openxmlformats.org/officeDocument/2006/relationships/hyperlink" Target="https://www.mdpi.com/2076-3417/15/7/3492?utm_source=chatgpt.com" TargetMode="Externa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9685"/>
            <a:ext cx="12180570" cy="691134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"/>
            <a:ext cx="12192000" cy="6910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Learning-Based​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Earthquake Magnitude​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Prediction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Team-6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Tm="176535">
        <p:newsflash/>
      </p:transition>
    </mc:Choice>
    <mc:Fallback>
      <p:transition spd="med" advTm="176535">
        <p:newsflash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Introduction​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5089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Earthquakes are destructive natural disasters.​This project uses machine learning to predict​ earthquake magnitude from historical seismic​ data.​</a:t>
            </a:r>
            <a:endParaRPr lang="en-US" sz="4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Problem Statement​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Traditional statistical methods struggle with​ complex and nonlinear seismic patterns.​Accurate magnitude prediction can support​ preparedness and risk mitigation by SMS.​</a:t>
            </a:r>
            <a:endParaRPr 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Objectives​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Predict earthquake magnitude​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Analyze historical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Compare ML algorithms​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dirty="0">
                <a:solidFill>
                  <a:srgbClr val="FFFF00"/>
                </a:solidFill>
              </a:rPr>
              <a:t> Improve disaster preparedness​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Dataset​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FFF00"/>
                </a:solidFill>
              </a:rPr>
              <a:t>Sources:​</a:t>
            </a:r>
            <a:endParaRPr lang="en-US" sz="42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USGS Earthquake Catalog​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Kaggle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IRIS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NOAA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Global Earthquake Model (GEM)​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Input Features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rgbClr val="FFFF00"/>
                </a:solidFill>
              </a:rPr>
              <a:t>The Machine Learning model uses important earthquake parameters: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Latitude:</a:t>
            </a:r>
            <a:r>
              <a:rPr lang="en-US" sz="3000" dirty="0">
                <a:solidFill>
                  <a:srgbClr val="FFFF00"/>
                </a:solidFill>
              </a:rPr>
              <a:t> Location of earthquake occurrence.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Longitude:</a:t>
            </a:r>
            <a:r>
              <a:rPr lang="en-US" sz="3000" dirty="0">
                <a:solidFill>
                  <a:srgbClr val="FFFF00"/>
                </a:solidFill>
              </a:rPr>
              <a:t> Geographic position of the earthquake.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Depth:</a:t>
            </a:r>
            <a:r>
              <a:rPr lang="en-US" sz="3000" dirty="0">
                <a:solidFill>
                  <a:srgbClr val="FFFF00"/>
                </a:solidFill>
              </a:rPr>
              <a:t> Distance below Earth's surface where the earthquake starts.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Time:</a:t>
            </a:r>
            <a:r>
              <a:rPr lang="en-US" sz="3000" dirty="0">
                <a:solidFill>
                  <a:srgbClr val="FFFF00"/>
                </a:solidFill>
              </a:rPr>
              <a:t> Date and time information of seismic activity.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Seismic Measurements:</a:t>
            </a:r>
            <a:r>
              <a:rPr lang="en-US" sz="3000" dirty="0">
                <a:solidFill>
                  <a:srgbClr val="FFFF00"/>
                </a:solidFill>
              </a:rPr>
              <a:t> Recorded earthquake-related values.</a:t>
            </a:r>
            <a:endParaRPr lang="en-US" sz="3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T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255"/>
            <a:ext cx="12192635" cy="6842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255"/>
            <a:ext cx="12191365" cy="685038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430"/>
            <a:ext cx="10515600" cy="1325563"/>
          </a:xfrm>
        </p:spPr>
        <p:txBody>
          <a:bodyPr/>
          <a:p>
            <a:pPr algn="ctr"/>
            <a:r>
              <a:rPr lang="en-US" altLang="en-US" sz="4800" b="1">
                <a:solidFill>
                  <a:srgbClr val="FF0000"/>
                </a:solidFill>
              </a:rPr>
              <a:t>Modern Tools &amp; Technologies</a:t>
            </a:r>
            <a:endParaRPr lang="en-US" altLang="en-US" sz="4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4310"/>
            <a:ext cx="10515600" cy="4351338"/>
          </a:xfrm>
        </p:spPr>
        <p:txBody>
          <a:bodyPr>
            <a:noAutofit/>
          </a:bodyPr>
          <a:p>
            <a:r>
              <a:rPr lang="en-US" altLang="en-US">
                <a:solidFill>
                  <a:srgbClr val="FFFF00"/>
                </a:solidFill>
              </a:rPr>
              <a:t>Python – Core development language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TensorFlow / Scikit-learn – Earthquake prediction and analysis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Pandas &amp; NumPy – Data preprocessing and analytics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IoT Seismic Sensors – Real-time earthquake detection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GPS/GIS – Location tracking and affected-area mapping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Twilio SMS API – Instant warning message delivery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MySQL/Firebase – Data storage and user management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Streamlit – Monitoring dashboard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Google Colab – Model development and testing</a:t>
            </a:r>
            <a:endParaRPr lang="en-US" altLang="en-US">
              <a:solidFill>
                <a:srgbClr val="FFFF00"/>
              </a:solidFill>
            </a:endParaRPr>
          </a:p>
          <a:p>
            <a:r>
              <a:rPr lang="en-US" altLang="en-US">
                <a:solidFill>
                  <a:srgbClr val="FFFF00"/>
                </a:solidFill>
              </a:rPr>
              <a:t>AWS/GCP Cloud – Real-time processing and scalability</a:t>
            </a:r>
            <a:endParaRPr lang="en-US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59" y="0"/>
            <a:ext cx="1222151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Machine Learning Models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Linear Regression: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Finds a simple relationship between input features and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Decision Tree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Uses decision rules to make predictions.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Random Forest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Combines multiple decision trees for better accuracy.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 err="1">
                <a:solidFill>
                  <a:srgbClr val="FFFF00"/>
                </a:solidFill>
              </a:rPr>
              <a:t>XGBoost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A powerful boosting algorithm that improves prediction performance.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Artificial Neural Network (ANN):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Learns complex patterns similar to the human brain.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t="620" r="17033" b="2252"/>
          <a:stretch>
            <a:fillRect/>
          </a:stretch>
        </p:blipFill>
        <p:spPr bwMode="auto">
          <a:xfrm>
            <a:off x="323386" y="1326723"/>
            <a:ext cx="4884234" cy="521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1" r="8995"/>
          <a:stretch>
            <a:fillRect/>
          </a:stretch>
        </p:blipFill>
        <p:spPr bwMode="auto">
          <a:xfrm>
            <a:off x="6984382" y="1326723"/>
            <a:ext cx="4568453" cy="530825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281629" y="403393"/>
            <a:ext cx="2962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Approach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6843" y="403393"/>
            <a:ext cx="3283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</a:t>
            </a:r>
            <a:endParaRPr lang="en-US" sz="5400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53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Evaluation Metrics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lvl="0"/>
            <a:r>
              <a:rPr lang="en-US" sz="3200" b="1" dirty="0">
                <a:solidFill>
                  <a:srgbClr val="FFFF00"/>
                </a:solidFill>
              </a:rPr>
              <a:t>Mean Absolute Error (MAE):</a:t>
            </a:r>
            <a:br>
              <a:rPr lang="en-US" sz="3200" dirty="0">
                <a:solidFill>
                  <a:srgbClr val="FFFF00"/>
                </a:solidFill>
              </a:rPr>
            </a:br>
            <a:r>
              <a:rPr lang="en-US" sz="3200" dirty="0">
                <a:solidFill>
                  <a:srgbClr val="FFFF00"/>
                </a:solidFill>
              </a:rPr>
              <a:t>Measures average prediction error. </a:t>
            </a: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b="1" dirty="0">
                <a:solidFill>
                  <a:srgbClr val="FFFF00"/>
                </a:solidFill>
              </a:rPr>
              <a:t>Mean Squared Error (MSE):</a:t>
            </a:r>
            <a:br>
              <a:rPr lang="en-US" sz="3200" dirty="0">
                <a:solidFill>
                  <a:srgbClr val="FFFF00"/>
                </a:solidFill>
              </a:rPr>
            </a:br>
            <a:r>
              <a:rPr lang="en-US" sz="3200" dirty="0">
                <a:solidFill>
                  <a:srgbClr val="FFFF00"/>
                </a:solidFill>
              </a:rPr>
              <a:t>Calculates the average squared difference between actual and predicted values. </a:t>
            </a: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b="1" dirty="0">
                <a:solidFill>
                  <a:srgbClr val="FFFF00"/>
                </a:solidFill>
              </a:rPr>
              <a:t>Root Mean Squared Error (RMSE):</a:t>
            </a:r>
            <a:br>
              <a:rPr lang="en-US" sz="3200" dirty="0">
                <a:solidFill>
                  <a:srgbClr val="FFFF00"/>
                </a:solidFill>
              </a:rPr>
            </a:br>
            <a:r>
              <a:rPr lang="en-US" sz="3200" dirty="0">
                <a:solidFill>
                  <a:srgbClr val="FFFF00"/>
                </a:solidFill>
              </a:rPr>
              <a:t>Shows prediction accuracy with the same unit as magnitude. </a:t>
            </a: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b="1" dirty="0">
                <a:solidFill>
                  <a:srgbClr val="FFFF00"/>
                </a:solidFill>
              </a:rPr>
              <a:t>R² Score:</a:t>
            </a:r>
            <a:br>
              <a:rPr lang="en-US" sz="3200" dirty="0">
                <a:solidFill>
                  <a:srgbClr val="FFFF00"/>
                </a:solidFill>
              </a:rPr>
            </a:br>
            <a:r>
              <a:rPr lang="en-US" sz="3200" dirty="0">
                <a:solidFill>
                  <a:srgbClr val="FFFF00"/>
                </a:solidFill>
              </a:rPr>
              <a:t>Indicates how well the model explains earthquake magnitude variations. 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310" y="1690370"/>
            <a:ext cx="2821940" cy="11512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0" y="2841625"/>
            <a:ext cx="3038475" cy="1076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905" y="4104005"/>
            <a:ext cx="3038475" cy="1075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670" y="5379085"/>
            <a:ext cx="2583180" cy="1085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420" y="0"/>
            <a:ext cx="2407285" cy="1380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3585210"/>
                <a:gridCol w="1974215"/>
                <a:gridCol w="1974850"/>
                <a:gridCol w="1973580"/>
                <a:gridCol w="1899285"/>
              </a:tblGrid>
              <a:tr h="24130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0683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Recent Advances in Early Earthquake Magnitude Estimation by Using Machine Learning Algorithms: A Systematic Review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SVM, CNN, CNN-LSTM, XGBoost, RF,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K-NET, KiK-net, STEAD, IPOC and others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Shows that ML/DL models can estimate earthquake magnitude effectively; compares many existing approaches.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2" tooltip="Recent Advances in Early Earthquake Magnitude Estimation by Using Machine Learning Algorithms: A Systematic Review"/>
                        </a:rPr>
                        <a:t>MDPI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2" tooltip="Recent Advances in Early Earthquake Magnitude Estimation by Using Machine Learning Algorithms: A Systematic Review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varies strongly with dataset, region and input waveform quality.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78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A machine learning framework with parameter optimization and regional clustering for strong earthquake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Japan and New Zealand earthquake catalogs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Uses regional clustering and 16 seismic activity indicators; RF is used for strong-earthquake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3" tooltip="A machine learning framework with parameter optimization and regional clustering for strong earthquake prediction | Journal of Seismology | Springer Nature Link"/>
                        </a:rPr>
                        <a:t>Springer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3" tooltip="A machine learning framework with parameter optimization and regional clustering for strong earthquake prediction | Journal of Seismology | Springer Nature Link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Requires carefully engineered seismic indicators and regional clustering; results may not directly generalize to other regions.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0713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   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Climatic and seismic data-driven deep learning model for earthquake magnitude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Deep Neural Network / Deep Learning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Indonesia, Japan and HKKH-region earthquake datasets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Combines climatic and seismic information to improve earthquake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4" tooltip="Frontiers | Climatic and seismic data-driven deep learning model for earthquake magnitude prediction"/>
                        </a:rPr>
                        <a:t>Frontiers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4" tooltip="Frontiers | Climatic and seismic data-driven deep learning model for earthquake magnitude prediction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Dependence on additional climatic variables increases data requirements and model complexity.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8435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Scalable earthquake magnitude prediction using spatio-temporal data and model versioning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LightGBM, XGBoost, Gradient Boosting, Random Forest, Linear Regression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Spatio-temporal earthquake dataset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 performed best on the larger dataset; the MLOps pipeline supports model tracking and deployment.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5" tooltip="Scalable earthquake magnitude prediction using spatio-temporal data and model versioning | Scientific Reports"/>
                        </a:rPr>
                        <a:t>Nature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5" tooltip="Scalable earthquake magnitude prediction using spatio-temporal data and model versioning | Scientific Reports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depends on dataset size and feature quality; the study reports moderate R² rather than near-perfect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6" tooltip="Scalable earthquake magnitude prediction using spatio-temporal data and model versioning - PMC"/>
                        </a:rPr>
                        <a:t>PubMed Central (PMC)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6" tooltip="Scalable earthquake magnitude prediction using spatio-temporal data and model versioning - PMC"/>
                      </a:endParaRPr>
                    </a:p>
                  </a:txBody>
                  <a:tcPr marL="0" marR="0" marT="0" marB="0" anchor="ctr" anchorCtr="0"/>
                </a:tc>
              </a:tr>
              <a:tr h="12065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Earthquake Prediction Using Machine Learning: Improved Magnitude Estimation with LSTM over 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 +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Historical earthquake parameters: latitude, longitude, depth and magnitude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addresses RF's weakness in sequential/time-series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7" tooltip="Earthquake Prediction Using Machine Learning: Improved Magnitude Estimation with LSTM over Random Forest"/>
                        </a:rPr>
                        <a:t>Zenodo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7" tooltip="Earthquake Prediction Using Machine Learning: Improved Magnitude Estimation with LSTM over Random Fores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requires sequential data preparation and greater computational complexity than conventional ML.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4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2465070"/>
                <a:gridCol w="2186940"/>
                <a:gridCol w="2139315"/>
                <a:gridCol w="2716530"/>
                <a:gridCol w="1899285"/>
              </a:tblGrid>
              <a:tr h="2438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51255">
                <a:tc>
                  <a:txBody>
                    <a:bodyPr/>
                    <a:p>
                      <a:pPr algn="ctr"/>
                      <a:r>
                        <a:rPr lang="en-US" sz="11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Comparative Analysis of Decision Tree, Random Forest, SVM, and Neural Network Models for Predicting Earthquake Magnitude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Decision Tree, Random Forest, SVM, Neural Network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USGS earthquake dataset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100">
                          <a:solidFill>
                            <a:srgbClr val="FFFF00"/>
                          </a:solidFill>
                        </a:rPr>
                        <a:t>Compares four ML models using MAE, RMSE and R² to identify a suitable magnitude prediction model. </a:t>
                      </a:r>
                      <a:endParaRPr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Results are based on the selected USGS dataset and may vary for other geographical regions.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Application of Machine Learning Models to Multi-Parameter Maximum Magnitude Prediction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Random Forest, LSTM and other ML models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Earthquake catalog from southern China’s North–South Seismic Belt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Uses 11 seismicity indicators and compares six ML models; LSTM was selected as the best-performing model for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Regional study focused on southern China; prediction depends on the selected seismicity indicators.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106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Machine Learning Applications for Earthquake Magnitude Prediction in Western Turkey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LSTM, CNN, ANFIS, Random Forest, Decision Tree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Western Turkey earthquake dataset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Compares five ML/DL approaches for weekly average magnitude prediction using RMSE, MSE, MAE and MAPE.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Focuses on a particular geographic region and weekly average magnitude rather than individual earthquake-event prediction.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Deep learning model for predicting earthquake magnitude using bidirectional LSTM with attention mechanism on historical seismic data from 2017 to 2025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Bi-LSTM + Attention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2,000 earthquake records from Mediterranean, Southern Europe, North Africa and Western Asia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Achieved reported R² of 0.9837 and 90.82% accuracy within ±0.3 magnitude tolerance.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Dataset is relatively limited to 2,000 records and the study focuses on earthquakes above magnitude 4.9.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1856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Forecasting earthquakes by Machine Learning techniques: lights and shadows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Logistic Regression, Random Forest, XGBoost, LSTM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Southern California Earthquake Data Center (SCEDC) catalog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Evaluates multiple ML approaches and reports Random Forest as the strongest model in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Results are based on Southern California data; transferability to different tectonic regions requires further validation.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560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35" y="635"/>
            <a:ext cx="12194540" cy="685800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-635" y="0"/>
          <a:ext cx="12194540" cy="68573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5190"/>
                <a:gridCol w="4982210"/>
                <a:gridCol w="6327140"/>
              </a:tblGrid>
              <a:tr h="5715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7508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Many existing studies are region-specific, so their models may not generalize well to other geographical areas.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a larger and geographically diverse earthquake dataset to improve generalization.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9794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Some studies depend on complex seismic waveform data, which may not be easily available.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commonly available features such as latitude, longitude, depth, time, and seismic measurements.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2748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Deep learning models such as LSTM and Bi-LSTM can require large datasets and high computational resources.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both traditional ML and advanced models and select the model that provides a good balance between accuracy and computational cost.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430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Several studies focus on only one machine learning algorithm or a limited number of models.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Linear Regression, Decision Tree, Random Forest, XGBoost, and ANN.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42365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Prediction performance differs depending on the quality and preprocessing of earthquake data.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Perform data cleaning, missing-value handling, feature selection, and normalization before training.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Expected Outcomes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FFFF00"/>
                </a:solidFill>
              </a:rPr>
              <a:t>Develop a model capable of predicting earthquake magnitude accurately.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Identify the best-performing machine learning algorithm.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Help researchers understand earthquake patterns.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Support disaster management authorities in planning and preparedness.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5" name="Picture 4" descr="d686c5c6-1c49-4d1a-b650-9039cb7ceea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" b="111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Project Team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Rahul (2420090043)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Sai Sujith (2420030280)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 err="1">
                <a:solidFill>
                  <a:srgbClr val="FFFF00"/>
                </a:solidFill>
              </a:rPr>
              <a:t>Nikhileash</a:t>
            </a:r>
            <a:r>
              <a:rPr lang="en-US" sz="3200" dirty="0">
                <a:solidFill>
                  <a:srgbClr val="FFFF00"/>
                </a:solidFill>
              </a:rPr>
              <a:t> (2420030596)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Sumanth Reddy (2420030782)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7922</Words>
  <Application>WPS Presentation</Application>
  <PresentationFormat>Widescreen</PresentationFormat>
  <Paragraphs>285</Paragraphs>
  <Slides>16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Calibri</vt:lpstr>
      <vt:lpstr>Calibri Light</vt:lpstr>
      <vt:lpstr>Microsoft YaHei</vt:lpstr>
      <vt:lpstr>Arial Unicode MS</vt:lpstr>
      <vt:lpstr>Office Theme</vt:lpstr>
      <vt:lpstr>1_Office Theme</vt:lpstr>
      <vt:lpstr>Machine Learning-Based​  Earthquake Magnitude​  Prediction​</vt:lpstr>
      <vt:lpstr>Introduction​</vt:lpstr>
      <vt:lpstr>Problem Statement​</vt:lpstr>
      <vt:lpstr>Objectives​</vt:lpstr>
      <vt:lpstr>Dataset​</vt:lpstr>
      <vt:lpstr>Input Features​</vt:lpstr>
      <vt:lpstr>Modern Tools &amp; Technologies</vt:lpstr>
      <vt:lpstr>Machine Learning Models</vt:lpstr>
      <vt:lpstr>PowerPoint 演示文稿</vt:lpstr>
      <vt:lpstr>Evaluation Metrics</vt:lpstr>
      <vt:lpstr>PowerPoint 演示文稿</vt:lpstr>
      <vt:lpstr>PowerPoint 演示文稿</vt:lpstr>
      <vt:lpstr>PowerPoint 演示文稿</vt:lpstr>
      <vt:lpstr>Expected Outcomes</vt:lpstr>
      <vt:lpstr>PowerPoint 演示文稿</vt:lpstr>
      <vt:lpstr>Project Team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saisujith potla</dc:creator>
  <cp:lastModifiedBy>Sai Sujith</cp:lastModifiedBy>
  <cp:revision>7</cp:revision>
  <dcterms:created xsi:type="dcterms:W3CDTF">2026-08-07T09:25:00Z</dcterms:created>
  <dcterms:modified xsi:type="dcterms:W3CDTF">2026-09-24T06:07:43Z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DE09BE9F6CED4FF89106F004D1685EF3_13</vt:lpwstr>
  </property>
</Properties>
</file>